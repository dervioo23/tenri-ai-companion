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pembuka. Perkenalkan cakupan: dari definisi dasar, unsur, model klasik, tipe komunikasi, teori, hingga era digital dan etika.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Tekankan: komunikasi = berbagi makna (sharing), bukan transmisi satu arah belaka. Bandingkan definisi Lasswell (linear) dan Hovland (perubahan perilaku).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Schramm sering disebut 'bapak ilmu komunikasi' karena melembagakan studi komunikasi di universitas. Sebutkan bahwa disiplin ini meminjam metode dari ilmu sosial 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alurnya: komunikator menyusun pesan, dikirim lewat saluran, diterima komunikan, menimbulkan efek, lalu umpan balik kembali. Gangguan &amp; konteks menyertai seluruh proses.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kunci: evolusi model bergerak dari linear ke transaksional. Shannon-Weaver menyumbang istilah 'noise' yang masih dipakai sampai sekarang.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Urutan dari jangkauan tersempit ke terluas. Komunikasi massa berbeda karena khalayaknya anonim, luas, dan heterogen.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Fungsi-fungsi ini sering tumpang tindih dalam satu peristiwa komunikasi. Contoh: iklan = informasi + persuasi + kadang hiburan.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nonverbal sering lebih dipercaya daripada verbal ketika keduanya bertentangan. Bahas proksemik (Edward Hall) bila waktu cukup.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hanya sampel teori komunikasi massa. Sebutkan bahwa ada banyak tradisi teori (sosiopsikologis, kritis, sibernetika, dll) yang dipelajari lebih dalam di semester lanjut.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fungsi klasik dari Lasswell &amp; Wright. Hubungkan ke contoh nyata: berita = pengawasan; tajuk rencana = korelasi; sinetron = hiburan + transmisi budaya.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Tekankan: komunikasi efektif menuntut kita mengenali dan meminimalkan noise. Umpan balik adalah alat utama untuk memeriksa apakah pesan sampai dengan benar.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Hubungkan dengan keseharian mahasiswa (media sosial). Tekankan literasi digital sebagai keterampilan wajib komunikator masa kini.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Etika makin krusial di era digital ketika semua orang bisa menerbitkan informasi. Kaitkan dengan UU ITE dan literasi media di Indonesia.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bahwa lulusan ilmu komunikasi punya peluang luas. Tren terbaru: content creator, digital strategist, dan data-driven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aksioma Watzlawick: bahkan diam atau tidak merespons pun adalah bentuk komunikasi. Buka sesi tanya jawab.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Referensi standar yang umum dipakai di program studi Ilmu Komunikasi di Indonesia dan internasional.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3840480" cy="3840480"/>
          </a:xfrm>
          <a:prstGeom prst="ellipse">
            <a:avLst/>
          </a:prstGeom>
          <a:solidFill>
            <a:srgbClr val="115E5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926080"/>
            <a:ext cx="2743200" cy="2743200"/>
          </a:xfrm>
          <a:prstGeom prst="ellipse">
            <a:avLst/>
          </a:prstGeom>
          <a:solidFill>
            <a:srgbClr val="0E4A4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184" y="737464"/>
            <a:ext cx="399593" cy="3995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658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DASAR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Pengantar</a:t>
            </a:r>
            <a:endParaRPr lang="en-US" sz="5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Ilmu Komunikasi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66928" y="35204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proses, unsur, model, dan konteks komunikasi manusia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6928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Ilmu Komunikasi  ·  Semester 1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  ·  HAKIKAT KOMUNIKASI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Komunikasi?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343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Etimologi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Berasal dari bahasa Latin communis (“sama”) dan communicare (“membuat sama / berbagi”). Inti komunikasi adalah menciptakan kesamaan makna.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inti</a:t>
            </a:r>
            <a:endParaRPr lang="en-US" sz="150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penyampaian pesan dari komunikator kepada komunikan, melalui saluran tertentu, untuk membangun pemahaman bersama — bukan sekadar mengirim informasi.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212080" y="1417320"/>
            <a:ext cx="3429000" cy="3154680"/>
          </a:xfrm>
          <a:prstGeom prst="roundRect">
            <a:avLst>
              <a:gd name="adj" fmla="val 3478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40680" y="16459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3502" y="1818742"/>
            <a:ext cx="294437" cy="2944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72200" y="17556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Definisi Para Ahli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40680" y="24688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Harold Lasswell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says what, in which channel, to whom, with what effect.”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 I. Hovland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individu mengirimkan stimulus untuk mengubah perilaku individu lain.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  ·  PERKEMBANGAN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Ilmu Komunikasi sebagai Disiplin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Ilmu komunikasi lahir sebagai disiplin akademik formal pada awal abad ke-20 dan berkembang pesat pasca Perang Dunia II, terutama di Amerika Serikat.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Sifatnya multidisipliner — berakar pada retorika klasik, sosiologi, psikologi, ilmu politik, dan linguistik.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keilmuan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611880"/>
            <a:ext cx="566928" cy="566928"/>
          </a:xfrm>
          <a:prstGeom prst="ellipse">
            <a:avLst/>
          </a:prstGeom>
          <a:solidFill>
            <a:srgbClr val="F0FB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991" y="3764951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8328" y="4224528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Retorika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325880" y="3611880"/>
            <a:ext cx="566928" cy="566928"/>
          </a:xfrm>
          <a:prstGeom prst="ellipse">
            <a:avLst/>
          </a:prstGeom>
          <a:solidFill>
            <a:srgbClr val="F0FBF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51" y="3764951"/>
            <a:ext cx="260787" cy="2607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61288" y="4224528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Sosiologi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148840" y="3611880"/>
            <a:ext cx="566928" cy="566928"/>
          </a:xfrm>
          <a:prstGeom prst="ellipse">
            <a:avLst/>
          </a:prstGeom>
          <a:solidFill>
            <a:srgbClr val="F0FBF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911" y="3764951"/>
            <a:ext cx="260787" cy="2607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84248" y="4224528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Psikologi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2971800" y="3611880"/>
            <a:ext cx="566928" cy="566928"/>
          </a:xfrm>
          <a:prstGeom prst="ellipse">
            <a:avLst/>
          </a:prstGeom>
          <a:solidFill>
            <a:srgbClr val="F0FBF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871" y="3764951"/>
            <a:ext cx="260787" cy="26078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807208" y="4224528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Politik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3794760" y="3611880"/>
            <a:ext cx="566928" cy="566928"/>
          </a:xfrm>
          <a:prstGeom prst="ellipse">
            <a:avLst/>
          </a:prstGeom>
          <a:solidFill>
            <a:srgbClr val="F0FBF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7831" y="3764951"/>
            <a:ext cx="260787" cy="26078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630168" y="4224528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Linguistik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5074920" y="1417320"/>
            <a:ext cx="3566160" cy="3154680"/>
          </a:xfrm>
          <a:prstGeom prst="roundRect">
            <a:avLst>
              <a:gd name="adj" fmla="val 3478"/>
            </a:avLst>
          </a:prstGeom>
          <a:solidFill>
            <a:srgbClr val="0B3D3D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5349240" y="1664208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2311" y="1817279"/>
            <a:ext cx="260787" cy="26078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03504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Perintis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5394960" y="2432304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6" name="Text 18"/>
          <p:cNvSpPr/>
          <p:nvPr/>
        </p:nvSpPr>
        <p:spPr>
          <a:xfrm>
            <a:off x="5577840" y="232257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Harold Lasswell  </a:t>
            </a:r>
            <a:pPr indent="0" marL="0">
              <a:buNone/>
            </a:pPr>
            <a:r>
              <a:rPr lang="en-US" sz="1100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Model &amp; analisis isi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5394960" y="2852928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8" name="Text 20"/>
          <p:cNvSpPr/>
          <p:nvPr/>
        </p:nvSpPr>
        <p:spPr>
          <a:xfrm>
            <a:off x="5577840" y="27432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Lazarsfeld  </a:t>
            </a:r>
            <a:pPr indent="0" marL="0">
              <a:buNone/>
            </a:pPr>
            <a:r>
              <a:rPr lang="en-US" sz="1100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Riset efek media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5394960" y="3273552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30" name="Text 22"/>
          <p:cNvSpPr/>
          <p:nvPr/>
        </p:nvSpPr>
        <p:spPr>
          <a:xfrm>
            <a:off x="5577840" y="316382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 Lewin  </a:t>
            </a:r>
            <a:pPr indent="0" marL="0">
              <a:buNone/>
            </a:pPr>
            <a:r>
              <a:rPr lang="en-US" sz="1100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Dinamika kelompok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5394960" y="3694176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32" name="Text 24"/>
          <p:cNvSpPr/>
          <p:nvPr/>
        </p:nvSpPr>
        <p:spPr>
          <a:xfrm>
            <a:off x="5577840" y="35844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 Hovland  </a:t>
            </a:r>
            <a:pPr indent="0" marL="0">
              <a:buNone/>
            </a:pPr>
            <a:r>
              <a:rPr lang="en-US" sz="1100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Persuasi &amp; sikap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5394960" y="411480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34" name="Text 26"/>
          <p:cNvSpPr/>
          <p:nvPr/>
        </p:nvSpPr>
        <p:spPr>
          <a:xfrm>
            <a:off x="5577840" y="400507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Wilbur Schramm  </a:t>
            </a:r>
            <a:pPr indent="0" marL="0">
              <a:buNone/>
            </a:pPr>
            <a:r>
              <a:rPr lang="en-US" sz="1100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Pelembaga ilmu komunikasi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 ·  ANATOMI PROSES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Unsur-Unsur Komunikasi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58191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769" y="1720169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" y="213055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Komunikator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67512" y="2404872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/ pengirim pesan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96896" y="1417320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61488" y="158191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745" y="1720169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61488" y="213055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Pesan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761488" y="2404872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Gagasan yang disampaikan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90872" y="1417320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55464" y="158191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721" y="1720169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55464" y="213055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Saluran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855464" y="2404872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penyampai pesan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784848" y="1417320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49440" y="158191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697" y="1720169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213055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Komunikan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949440" y="2404872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Penerima pesan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02920" y="2971800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67512" y="3136392"/>
            <a:ext cx="512064" cy="512064"/>
          </a:xfrm>
          <a:prstGeom prst="ellipse">
            <a:avLst/>
          </a:prstGeom>
          <a:solidFill>
            <a:srgbClr val="FFF7E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769" y="3274649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67512" y="368503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Efek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67512" y="3959352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pada penerima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2596896" y="2971800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761488" y="3136392"/>
            <a:ext cx="512064" cy="512064"/>
          </a:xfrm>
          <a:prstGeom prst="ellipse">
            <a:avLst/>
          </a:prstGeom>
          <a:solidFill>
            <a:srgbClr val="FFF7E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9745" y="3274649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761488" y="368503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Umpan Balik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2761488" y="3959352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 dari komunikan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690872" y="2971800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855464" y="3136392"/>
            <a:ext cx="512064" cy="512064"/>
          </a:xfrm>
          <a:prstGeom prst="ellipse">
            <a:avLst/>
          </a:prstGeom>
          <a:solidFill>
            <a:srgbClr val="FFF7EC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3721" y="3274649"/>
            <a:ext cx="235549" cy="23554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855464" y="368503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Gangguan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4855464" y="3959352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Hambatan dalam proses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784848" y="2971800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949440" y="3136392"/>
            <a:ext cx="512064" cy="512064"/>
          </a:xfrm>
          <a:prstGeom prst="ellipse">
            <a:avLst/>
          </a:prstGeom>
          <a:solidFill>
            <a:srgbClr val="FFF7EC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7697" y="3274649"/>
            <a:ext cx="235549" cy="235549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949440" y="368503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Konteks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6949440" y="3959352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Situasi &amp; lingkungan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 ·  CARA MEMODELKAN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Model-Model Komunikasi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993392" cy="2743200"/>
          </a:xfrm>
          <a:prstGeom prst="roundRect">
            <a:avLst>
              <a:gd name="adj" fmla="val 4587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755648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75564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" y="2267712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Lasswell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" y="2852928"/>
            <a:ext cx="16642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linear lima pertanyaan: who – what – channel – whom – effect.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24328" y="1554480"/>
            <a:ext cx="1993392" cy="2743200"/>
          </a:xfrm>
          <a:prstGeom prst="roundRect">
            <a:avLst>
              <a:gd name="adj" fmla="val 4587"/>
            </a:avLst>
          </a:prstGeom>
          <a:solidFill>
            <a:srgbClr val="0B3D3D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755648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75564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88920" y="2267712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Shannon &amp; Weaver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88920" y="2852928"/>
            <a:ext cx="16642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matematis; memperkenalkan konsep gangguan (noise) dalam transmisi.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45736" y="1554480"/>
            <a:ext cx="1993392" cy="2743200"/>
          </a:xfrm>
          <a:prstGeom prst="roundRect">
            <a:avLst>
              <a:gd name="adj" fmla="val 4587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10328" y="1755648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910328" y="175564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10328" y="2267712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Schramm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10328" y="2852928"/>
            <a:ext cx="16642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sirkular: menambahkan umpan balik &amp; bidang pengalaman (field of experience).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67144" y="1554480"/>
            <a:ext cx="1993392" cy="2743200"/>
          </a:xfrm>
          <a:prstGeom prst="roundRect">
            <a:avLst>
              <a:gd name="adj" fmla="val 4587"/>
            </a:avLst>
          </a:prstGeom>
          <a:solidFill>
            <a:srgbClr val="0B3D3D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31736" y="1755648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175564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31736" y="2267712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Berlo (SMCR)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31736" y="2852928"/>
            <a:ext cx="16642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– Message – Channel – Receiver; menyoroti faktor pada tiap unsur.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480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 perkembangan: dari model linear (satu arah)  →  menuju model sirkular &amp; transaksional (dua arah, interaktif).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 ·  TINGKATAN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Tipe &amp; Konteks Komunikasi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70048" cy="1298448"/>
          </a:xfrm>
          <a:prstGeom prst="roundRect">
            <a:avLst>
              <a:gd name="adj" fmla="val 7042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174833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618488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Intrapersonal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216712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dengan diri sendiri — berpikir, refleksi, evaluasi diri.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64408" y="1417320"/>
            <a:ext cx="2670048" cy="1298448"/>
          </a:xfrm>
          <a:prstGeom prst="roundRect">
            <a:avLst>
              <a:gd name="adj" fmla="val 7042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47288" y="16002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421" y="174833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05656" y="1618488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Interpersonal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447288" y="216712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Antara dua orang secara langsung &amp; tatap muka.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25896" y="1417320"/>
            <a:ext cx="2670048" cy="1298448"/>
          </a:xfrm>
          <a:prstGeom prst="roundRect">
            <a:avLst>
              <a:gd name="adj" fmla="val 7042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08776" y="16002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909" y="174833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67144" y="1618488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Kelompok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208776" y="216712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kelompok kecil dengan tujuan bersama.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2880360"/>
            <a:ext cx="2670048" cy="1298448"/>
          </a:xfrm>
          <a:prstGeom prst="roundRect">
            <a:avLst>
              <a:gd name="adj" fmla="val 7042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0632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3" y="321137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44168" y="3081528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Organisasi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85800" y="363016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struktur lembaga, formal &amp; informal.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64408" y="2880360"/>
            <a:ext cx="2670048" cy="1298448"/>
          </a:xfrm>
          <a:prstGeom prst="roundRect">
            <a:avLst>
              <a:gd name="adj" fmla="val 7042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47288" y="30632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421" y="3211373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05656" y="3081528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Publik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3447288" y="363016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pembicara kepada banyak audiens (pidato, ceramah).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25896" y="2880360"/>
            <a:ext cx="2670048" cy="1298448"/>
          </a:xfrm>
          <a:prstGeom prst="roundRect">
            <a:avLst>
              <a:gd name="adj" fmla="val 7042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08776" y="30632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6909" y="3211373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67144" y="3081528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Massa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6208776" y="363016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Melalui media massa kepada khalayak luas &amp; heterogen.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jangkauan membesar  —  dari diri sendiri (intrapersonal) hingga khalayak massa.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 ·  PERAN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 Komunikasi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0FBFA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517904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010" y="1636410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Informasi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108960" y="14630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Menyampaikan dan menerima informasi, berita, serta pengetahuan baru.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093976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0FBFA"/>
          </a:solidFill>
          <a:ln/>
        </p:spPr>
      </p:sp>
      <p:sp>
        <p:nvSpPr>
          <p:cNvPr id="10" name="Shape 7"/>
          <p:cNvSpPr/>
          <p:nvPr/>
        </p:nvSpPr>
        <p:spPr>
          <a:xfrm>
            <a:off x="603504" y="2148840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010" y="2267346"/>
            <a:ext cx="201900" cy="201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209397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Edukasi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108960" y="209397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Mendidik dan mengalihkan ilmu pengetahuan antar individu dan generasi.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2724912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0FBFA"/>
          </a:solidFill>
          <a:ln/>
        </p:spPr>
      </p:sp>
      <p:sp>
        <p:nvSpPr>
          <p:cNvPr id="15" name="Shape 11"/>
          <p:cNvSpPr/>
          <p:nvPr/>
        </p:nvSpPr>
        <p:spPr>
          <a:xfrm>
            <a:off x="603504" y="2779776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10" y="2898282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70432" y="27249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Persuasi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3108960" y="272491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Memengaruhi sikap, pendapat, dan perilaku komunikan.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" y="3355848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0FB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03504" y="3410712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010" y="3529218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70432" y="33558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Hiburan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3108960" y="335584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 kesenangan, relaksasi, dan pelepasan ketegangan.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02920" y="3986784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0FBFA"/>
          </a:solidFill>
          <a:ln/>
        </p:spPr>
      </p:sp>
      <p:sp>
        <p:nvSpPr>
          <p:cNvPr id="25" name="Shape 19"/>
          <p:cNvSpPr/>
          <p:nvPr/>
        </p:nvSpPr>
        <p:spPr>
          <a:xfrm>
            <a:off x="603504" y="4041648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010" y="4160154"/>
            <a:ext cx="201900" cy="201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70432" y="398678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Integrasi Sosial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3108960" y="3986784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hubungan dan menjaga kohesi dalam masyarakat.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 ·  BENTUK PESAN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Komunikasi Verbal &amp; Nonverbal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3154680"/>
          </a:xfrm>
          <a:prstGeom prst="roundRect">
            <a:avLst>
              <a:gd name="adj" fmla="val 3478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466" y="1808866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190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kata-kata, baik lisan maupun tulisan.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Percakapan, pidato, surat, artikel, pesan teks.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Ciri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Eksplisit, terstruktur, terikat aturan bahasa.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3977640" cy="3154680"/>
          </a:xfrm>
          <a:prstGeom prst="roundRect">
            <a:avLst>
              <a:gd name="adj" fmla="val 3478"/>
            </a:avLst>
          </a:prstGeom>
          <a:solidFill>
            <a:srgbClr val="0B3D3D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645920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986" y="1808866"/>
            <a:ext cx="277612" cy="2776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7190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Nonverbal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2423160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7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Menyampaikan makna tanpa kata-kata.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tubuh, ekspresi wajah, intonasi, kontak mata, jarak (proksemik), penampilan.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besar makna emosional justru dibaca dari isyarat nonverbal.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 ·  KERANGKA BERPIKIR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Beberapa Teori Penting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995" y="1743395"/>
            <a:ext cx="243962" cy="243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6002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Setting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216712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McCombs &amp; Shaw — media menentukan tentang apa yang kita pikirkan, bukan apa yang kita pikirkan.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600200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515" y="1743395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4688" y="16002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 &amp; Gratifications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846320" y="216712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Khalayak aktif memilih media untuk memenuhi kebutuhan tertentu.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297180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154680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95" y="3297875"/>
            <a:ext cx="243962" cy="2439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44168" y="31546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Cultivation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85800" y="372160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Gerbner — terpaan televisi jangka panjang membentuk persepsi tentang realitas.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297180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154680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515" y="3297875"/>
            <a:ext cx="243962" cy="2439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04688" y="31546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Spiral of Silence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846320" y="372160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Noelle-Neumann — orang cenderung diam saat merasa pendapatnya minoritas.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 ·  SKALA LUAS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Komunikasi Massa &amp; Media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yang disalurkan melalui media kepada khalayak luas, anonim, dan heterogen.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Ciri utama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Melembaga, serentak, dan secara klasik bersifat satu arah.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Ragam media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566160"/>
            <a:ext cx="548640" cy="548640"/>
          </a:xfrm>
          <a:prstGeom prst="ellipse">
            <a:avLst/>
          </a:prstGeom>
          <a:solidFill>
            <a:srgbClr val="F0FB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3714293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4160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Cetak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325880" y="3566160"/>
            <a:ext cx="548640" cy="548640"/>
          </a:xfrm>
          <a:prstGeom prst="ellipse">
            <a:avLst/>
          </a:prstGeom>
          <a:solidFill>
            <a:srgbClr val="F0FBF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013" y="3714293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4160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148840" y="3566160"/>
            <a:ext cx="548640" cy="548640"/>
          </a:xfrm>
          <a:prstGeom prst="ellipse">
            <a:avLst/>
          </a:prstGeom>
          <a:solidFill>
            <a:srgbClr val="F0FBF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973" y="371429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11680" y="4160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Televisi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2971800" y="3566160"/>
            <a:ext cx="548640" cy="548640"/>
          </a:xfrm>
          <a:prstGeom prst="ellipse">
            <a:avLst/>
          </a:prstGeom>
          <a:solidFill>
            <a:srgbClr val="F0FBF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9933" y="3714293"/>
            <a:ext cx="252374" cy="25237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834640" y="4160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794760" y="3566160"/>
            <a:ext cx="548640" cy="548640"/>
          </a:xfrm>
          <a:prstGeom prst="ellipse">
            <a:avLst/>
          </a:prstGeom>
          <a:solidFill>
            <a:srgbClr val="F0FBF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2893" y="3714293"/>
            <a:ext cx="252374" cy="25237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657600" y="4160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Daring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29200" y="1417320"/>
            <a:ext cx="3611880" cy="3154680"/>
          </a:xfrm>
          <a:prstGeom prst="roundRect">
            <a:avLst>
              <a:gd name="adj" fmla="val 3478"/>
            </a:avLst>
          </a:prstGeom>
          <a:solidFill>
            <a:srgbClr val="0B3D3D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5285232" y="16276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 Media Massa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5303520" y="22128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6964" y="2336292"/>
            <a:ext cx="210312" cy="21031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870448" y="217627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Pengawasan  </a:t>
            </a:r>
            <a:pPr indent="0" marL="0">
              <a:buNone/>
            </a:pPr>
            <a:r>
              <a:rPr lang="en-US" sz="1050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memantau lingkungan &amp; menyebar informasi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5303520" y="277977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6964" y="2903220"/>
            <a:ext cx="210312" cy="21031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870448" y="274320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Korelasi  </a:t>
            </a:r>
            <a:pPr indent="0" marL="0">
              <a:buNone/>
            </a:pPr>
            <a:r>
              <a:rPr lang="en-US" sz="1050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menafsirkan &amp; menghubungkan peristiwa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5303520" y="3346704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6964" y="3470148"/>
            <a:ext cx="210312" cy="21031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870448" y="3310128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Transmisi Budaya  </a:t>
            </a:r>
            <a:pPr indent="0" marL="0">
              <a:buNone/>
            </a:pPr>
            <a:r>
              <a:rPr lang="en-US" sz="1050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mewariskan nilai antar generasi</a:t>
            </a:r>
            <a:endParaRPr lang="en-US" sz="1200" dirty="0"/>
          </a:p>
        </p:txBody>
      </p:sp>
      <p:sp>
        <p:nvSpPr>
          <p:cNvPr id="32" name="Shape 22"/>
          <p:cNvSpPr/>
          <p:nvPr/>
        </p:nvSpPr>
        <p:spPr>
          <a:xfrm>
            <a:off x="5303520" y="391363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6964" y="4037076"/>
            <a:ext cx="210312" cy="210312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870448" y="3877056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Hiburan  </a:t>
            </a:r>
            <a:pPr indent="0" marL="0">
              <a:buNone/>
            </a:pPr>
            <a:r>
              <a:rPr lang="en-US" sz="1050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memberi kesenangan kepada khalayak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 ·  GANGGUAN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Hambatan Komunikasi (Noise)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7EC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530352" cy="530352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995" y="1743395"/>
            <a:ext cx="243962" cy="243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6002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Fisik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216712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Kebisingan, sinyal buruk, jarak, atau kondisi lingkungan yang mengganggu.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7EC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600200"/>
            <a:ext cx="530352" cy="530352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515" y="1743395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4688" y="16002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846320" y="216712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 makna kata, istilah, atau bahasa antara komunikator dan komunikan.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297180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7EC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154680"/>
            <a:ext cx="530352" cy="530352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95" y="3297875"/>
            <a:ext cx="243962" cy="2439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44168" y="31546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Psikologis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85800" y="372160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Prasangka, emosi, kelelahan, atau persepsi selektif penerima.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297180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7EC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154680"/>
            <a:ext cx="530352" cy="530352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515" y="3297875"/>
            <a:ext cx="243962" cy="2439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04688" y="31546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Budaya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846320" y="372160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 nilai, norma, dan latar belakang budaya yang menghambat pemahaman.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 ·  KONTEKS KEKINIAN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Komunikasi di Era Digital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Pergeseran dari media massa (satu → banyak) menuju media baru yang interaktif (banyak → banyak). Kini setiap orang dapat menjadi komunikator massa.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975104" cy="1325880"/>
          </a:xfrm>
          <a:prstGeom prst="roundRect">
            <a:avLst>
              <a:gd name="adj" fmla="val 6897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7008" y="2496312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079" y="2649383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10896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Interaktif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12648" y="336499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dua arah real-time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96896" y="2331720"/>
            <a:ext cx="1975104" cy="1325880"/>
          </a:xfrm>
          <a:prstGeom prst="roundRect">
            <a:avLst>
              <a:gd name="adj" fmla="val 6897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00984" y="2496312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055" y="2649383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88336" y="310896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Berjejaring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706624" y="336499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Terhubung dalam jaringan sosial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90872" y="2331720"/>
            <a:ext cx="1975104" cy="1325880"/>
          </a:xfrm>
          <a:prstGeom prst="roundRect">
            <a:avLst>
              <a:gd name="adj" fmla="val 6897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94960" y="2496312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031" y="2649383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82312" y="310896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Viral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800600" y="336499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menyebar cepat &amp; masif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784848" y="2331720"/>
            <a:ext cx="1975104" cy="1325880"/>
          </a:xfrm>
          <a:prstGeom prst="roundRect">
            <a:avLst>
              <a:gd name="adj" fmla="val 6897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88936" y="2496312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007" y="2649383"/>
            <a:ext cx="260787" cy="26078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76288" y="310896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Konvergensi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894576" y="336499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Teks, audio, video menyatu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3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 baru: disinformasi &amp; hoaks, echo chamber, kelebihan informasi (information overload), dan jejak digital.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  ·  TANGGUNG JAWAB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Etika Komunikasi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517904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010" y="1636410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463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Kejujuran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14630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Menyampaikan informasi yang benar dan tidak menyesatkan.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093976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0FBFA"/>
          </a:solidFill>
          <a:ln/>
        </p:spPr>
      </p:sp>
      <p:sp>
        <p:nvSpPr>
          <p:cNvPr id="10" name="Shape 7"/>
          <p:cNvSpPr/>
          <p:nvPr/>
        </p:nvSpPr>
        <p:spPr>
          <a:xfrm>
            <a:off x="603504" y="2148840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010" y="2267346"/>
            <a:ext cx="201900" cy="201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209397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Tanggung Jawab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0" y="209397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Mempertimbangkan dampak pesan terhadap orang lain.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2724912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603504" y="2779776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10" y="2898282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70432" y="27249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Menghargai Privasi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566160" y="272491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menyebarkan informasi pribadi tanpa izin.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" y="3355848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0FB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03504" y="3410712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010" y="3529218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70432" y="33558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Menghormati Perbedaan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3566160" y="335584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Sensitif terhadap keberagaman budaya &amp; pandangan.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02920" y="3986784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603504" y="4041648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010" y="4160154"/>
            <a:ext cx="201900" cy="201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70432" y="39867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Verifikasi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566160" y="398678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Memeriksa kebenaran sebelum menyebarkan — melawan hoaks.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Prospek Karier &amp; Bidang Kajian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70048" cy="1298448"/>
          </a:xfrm>
          <a:prstGeom prst="roundRect">
            <a:avLst>
              <a:gd name="adj" fmla="val 7042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174833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618488"/>
            <a:ext cx="1709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Jurnalistik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216712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Wartawan, editor, produser berita.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64408" y="1417320"/>
            <a:ext cx="2670048" cy="1298448"/>
          </a:xfrm>
          <a:prstGeom prst="roundRect">
            <a:avLst>
              <a:gd name="adj" fmla="val 7042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47288" y="16002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421" y="174833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05656" y="1618488"/>
            <a:ext cx="1709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Relations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47288" y="216712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Pengelolaan citra &amp; relasi publik.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25896" y="1417320"/>
            <a:ext cx="2670048" cy="1298448"/>
          </a:xfrm>
          <a:prstGeom prst="roundRect">
            <a:avLst>
              <a:gd name="adj" fmla="val 7042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08776" y="16002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909" y="174833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67144" y="1618488"/>
            <a:ext cx="1709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Periklanan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208776" y="216712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Copywriter, account executive, kreatif.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2880360"/>
            <a:ext cx="2670048" cy="1298448"/>
          </a:xfrm>
          <a:prstGeom prst="roundRect">
            <a:avLst>
              <a:gd name="adj" fmla="val 7042"/>
            </a:avLst>
          </a:prstGeom>
          <a:solidFill>
            <a:srgbClr val="FFF7EC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0632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3" y="321137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44168" y="3081528"/>
            <a:ext cx="1709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Penyiaran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85800" y="363016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Penyiar radio, presenter TV, podcaster.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64408" y="2880360"/>
            <a:ext cx="2670048" cy="1298448"/>
          </a:xfrm>
          <a:prstGeom prst="roundRect">
            <a:avLst>
              <a:gd name="adj" fmla="val 7042"/>
            </a:avLst>
          </a:prstGeom>
          <a:solidFill>
            <a:srgbClr val="FFF7EC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47288" y="30632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421" y="3211373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05656" y="3081528"/>
            <a:ext cx="1709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Komunikasi Digital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3447288" y="363016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&amp; content specialist.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25896" y="2880360"/>
            <a:ext cx="2670048" cy="1298448"/>
          </a:xfrm>
          <a:prstGeom prst="roundRect">
            <a:avLst>
              <a:gd name="adj" fmla="val 7042"/>
            </a:avLst>
          </a:prstGeom>
          <a:solidFill>
            <a:srgbClr val="FFF7EC"/>
          </a:solidFill>
          <a:ln/>
          <a:effectLst>
            <a:outerShdw sx="100000" sy="100000" kx="0" ky="0" algn="bl" rotWithShape="0" blurRad="88900" dist="38100" dir="5400000">
              <a:srgbClr val="0B3D3D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08776" y="30632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6909" y="3211373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67144" y="3081528"/>
            <a:ext cx="1709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Komunikasi Korporat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208776" y="3630168"/>
            <a:ext cx="232257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&amp; external communication.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743200"/>
            <a:ext cx="3291840" cy="3291840"/>
          </a:xfrm>
          <a:prstGeom prst="ellipse">
            <a:avLst/>
          </a:prstGeom>
          <a:solidFill>
            <a:srgbClr val="115E59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-1097280"/>
            <a:ext cx="3017520" cy="3017520"/>
          </a:xfrm>
          <a:prstGeom prst="ellipse">
            <a:avLst/>
          </a:prstGeom>
          <a:solidFill>
            <a:srgbClr val="0E4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Komunikasi adalah proses berbagi makna.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23317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Ilmu komunikasi mempelajari unsur, model, konteks, efek, dan etika dari proses tersebut — dari diri sendiri hingga khalayak massa, dari tatap muka hingga ruang digital.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3611880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439" y="3764951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6576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cannot not communicate.”  </a:t>
            </a: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Paul Watzlawick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48132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Mulyana, Deddy. (2010). Ilmu Komunikasi: Suatu Pengantar. Bandung: Remaja Rosdakarya.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04825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Effendy, Onong Uchjana. (2003). Ilmu, Teori dan Filsafat Komunikasi. Bandung: Citra Aditya Bakti.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61518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Cangara, Hafied. (2016). Pengantar Ilmu Komunikasi. Jakarta: Rajawali Pers.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2841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18211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West, Richard &amp; Turner, Lynn H. (2017). Introducing Communication Theory. New York: McGraw-Hill.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9534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McQuail, Denis. (2010). McQuail's Mass Communication Theory. London: SAGE Publications.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sebagai materi pengantar mata kuliah Ilmu Komunikasi (Semester 1).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Pengantar Ilmu Komunikasi</dc:title>
  <dc:subject>PptxGenJS Presentation</dc:subject>
  <dc:creator>Pengantar Ilmu Komunikasi</dc:creator>
  <cp:lastModifiedBy>Pengantar Ilmu Komunikasi</cp:lastModifiedBy>
  <cp:revision>1</cp:revision>
  <dcterms:created xsi:type="dcterms:W3CDTF">2026-06-13T05:44:08Z</dcterms:created>
  <dcterms:modified xsi:type="dcterms:W3CDTF">2026-06-13T05:44:08Z</dcterms:modified>
</cp:coreProperties>
</file>