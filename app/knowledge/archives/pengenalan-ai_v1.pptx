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C214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7C6FF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297680"/>
            <a:ext cx="3291840" cy="329184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914400" cy="914400"/>
          </a:xfrm>
          <a:prstGeom prst="ellipse">
            <a:avLst/>
          </a:prstGeom>
          <a:solidFill>
            <a:srgbClr val="7C6F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133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PENGENALAN TEKNOLOGI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24688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Mengenal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Kecerdasan Buatan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AI, bagaimana ia bekerja, dan mengapa relevan bagi kita sehari-hari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1248" y="5349240"/>
            <a:ext cx="100584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Kuliah  •  Audiens Mahasiswa Umum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 DASAR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Itu Kecerdasan Buatan?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Kecerdasan Buatan (Artificial Intelligence / AI) adalah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mesin untuk meniru fungsi kognitif manusia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seperti belajar dari pengalaman, mengenali pola, mengambil keputusan, dan memahami bahasa.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AI bukan robot berjalan, melainkan perangkat lunak yang belajar dari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212080" cy="14630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645920"/>
            <a:ext cx="82296" cy="146304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10" name="Shape 8"/>
          <p:cNvSpPr/>
          <p:nvPr/>
        </p:nvSpPr>
        <p:spPr>
          <a:xfrm>
            <a:off x="6693408" y="1938528"/>
            <a:ext cx="566928" cy="566928"/>
          </a:xfrm>
          <a:prstGeom prst="ellipse">
            <a:avLst/>
          </a:prstGeom>
          <a:solidFill>
            <a:srgbClr val="F5B14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17" y="2102937"/>
            <a:ext cx="238110" cy="23811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06640" y="1883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0664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super cerdas yang berpikir &amp; berperasaan seperti manusia, siap mengambil alih dunia.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0" y="3337560"/>
            <a:ext cx="5212080" cy="14630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3337560"/>
            <a:ext cx="82296" cy="14630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6693408" y="363016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17" y="3794577"/>
            <a:ext cx="238110" cy="23811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KENYATAAN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406640" y="3886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statistik yang sangat baik dalam satu tugas spesifik: memprediksi, menggolongkan, atau membuat konten.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ISTILAH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Machine Learning &amp; Deep Learning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EDEBFB"/>
          </a:solidFill>
          <a:ln w="19050">
            <a:solidFill>
              <a:srgbClr val="7C6F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01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4440" y="242316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DFFBF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578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315468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12152E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1546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640080" cy="640080"/>
          </a:xfrm>
          <a:prstGeom prst="ellipse">
            <a:avLst/>
          </a:prstGeom>
          <a:solidFill>
            <a:srgbClr val="EDEBF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2014423"/>
            <a:ext cx="268834" cy="2688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95160" y="1810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95160" y="21305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Payung besar: segala teknik agar mesin bertindak “cerdas”.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26480" y="3154680"/>
            <a:ext cx="640080" cy="640080"/>
          </a:xfrm>
          <a:prstGeom prst="ellipse">
            <a:avLst/>
          </a:prstGeom>
          <a:solidFill>
            <a:srgbClr val="EDEBF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103" y="3340303"/>
            <a:ext cx="268834" cy="2688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95160" y="3136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995160" y="34564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belajar pola dari data, bukan diprogram aturan satu per satu.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126480" y="4480560"/>
            <a:ext cx="640080" cy="640080"/>
          </a:xfrm>
          <a:prstGeom prst="ellipse">
            <a:avLst/>
          </a:prstGeom>
          <a:solidFill>
            <a:srgbClr val="EDEBF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103" y="4666183"/>
            <a:ext cx="268834" cy="2688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4462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995160" y="4782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dengan jaringan saraf tiruan berlapis; kuat untuk gambar, suara &amp; teks.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Bagaimana AI “Belajar”?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i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</a:t>
            </a:r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anak yang dikenalkan ratusan foto kucing. Lama-lama ia menangkap ciri-cirinya, lalu bisa mengenali kucing baru yang belum pernah dilihat.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3383280" cy="265176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468880"/>
            <a:ext cx="3383280" cy="10972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2880360"/>
            <a:ext cx="777240" cy="777240"/>
          </a:xfrm>
          <a:prstGeom prst="ellipse">
            <a:avLst/>
          </a:prstGeom>
          <a:solidFill>
            <a:srgbClr val="7C6FF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00" y="3105760"/>
            <a:ext cx="326441" cy="32644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8892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1430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43000" y="4251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diberi banyak contoh: gambar, teks, angka, atau transaksi.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178808" y="338328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4727448" y="2468880"/>
            <a:ext cx="3383280" cy="265176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27448" y="2468880"/>
            <a:ext cx="33832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Shape 14"/>
          <p:cNvSpPr/>
          <p:nvPr/>
        </p:nvSpPr>
        <p:spPr>
          <a:xfrm>
            <a:off x="5093208" y="288036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8" y="3105760"/>
            <a:ext cx="326441" cy="32644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39128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5093208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5093208" y="4251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menemukan keteraturan &amp; hubungan tersembunyi di dalam data.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129016" y="338328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8677656" y="2468880"/>
            <a:ext cx="3383280" cy="265176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77656" y="2468880"/>
            <a:ext cx="3383280" cy="109728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25" name="Shape 21"/>
          <p:cNvSpPr/>
          <p:nvPr/>
        </p:nvSpPr>
        <p:spPr>
          <a:xfrm>
            <a:off x="9043416" y="2880360"/>
            <a:ext cx="777240" cy="777240"/>
          </a:xfrm>
          <a:prstGeom prst="ellipse">
            <a:avLst/>
          </a:prstGeom>
          <a:solidFill>
            <a:srgbClr val="F5B14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816" y="3105760"/>
            <a:ext cx="326441" cy="32644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689336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8" name="Text 23"/>
          <p:cNvSpPr/>
          <p:nvPr/>
        </p:nvSpPr>
        <p:spPr>
          <a:xfrm>
            <a:off x="9043416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Prediksi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9043416" y="4251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itu dipakai untuk menebak atau memutuskan hal baru yang belum dilihat.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PENDEKATAN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Mesin Dilatih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3611880" cy="1234440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15798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09" y="2322393"/>
            <a:ext cx="238110" cy="2381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1579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DENGAN JAWABAN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14400" y="4114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 contoh berlabel (“ini kucing, ini bukan”). Contoh: deteksi spam, prediksi harga.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71416" y="1828800"/>
            <a:ext cx="361188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71416" y="1828800"/>
            <a:ext cx="3611880" cy="1234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Shape 12"/>
          <p:cNvSpPr/>
          <p:nvPr/>
        </p:nvSpPr>
        <p:spPr>
          <a:xfrm>
            <a:off x="4837176" y="215798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585" y="2322393"/>
            <a:ext cx="238110" cy="2381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22976" y="21579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TANPA JAWABAN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37176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837176" y="4114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kelompok sendiri tanpa label. Contoh: segmentasi pelanggan, deteksi anomali.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394192" y="1828800"/>
            <a:ext cx="361188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94192" y="1828800"/>
            <a:ext cx="3611880" cy="123444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22" name="Shape 18"/>
          <p:cNvSpPr/>
          <p:nvPr/>
        </p:nvSpPr>
        <p:spPr>
          <a:xfrm>
            <a:off x="8759952" y="215798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361" y="2322393"/>
            <a:ext cx="238110" cy="2381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445752" y="21579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BELAJAR DARI COBA-COBA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759952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759952" y="4114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lewat hadiah &amp; hukuman. Contoh: AI catur, mobil otonom, robotika.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DISADARI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Ada di Sekitar Kita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178308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7568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2266615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konten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 TikTok, YouTube, Shopee menyesuaikan selera Anda.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98848" y="1783080"/>
            <a:ext cx="3657600" cy="178308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91456" y="207568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383" y="2266615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73168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 suara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73168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Assistant &amp; Siri memahami perintah lisan.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449056" y="1783080"/>
            <a:ext cx="3657600" cy="178308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41664" y="207568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591" y="2266615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23376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Terjemahan otomatis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723376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mengalihbahasakan teks seketika.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3822192"/>
            <a:ext cx="3657600" cy="178308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1248" y="41148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5" y="4305727"/>
            <a:ext cx="276515" cy="27651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48280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spam &amp; keamanan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2296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menyaring pesan berbahaya secara otomatis.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498848" y="3822192"/>
            <a:ext cx="3657600" cy="178308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91456" y="41148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383" y="4305727"/>
            <a:ext cx="276515" cy="27651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73168" y="48280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kunci wajah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773168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Ponsel mengenali wajah Anda dalam sekejap.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449056" y="3822192"/>
            <a:ext cx="3657600" cy="178308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741664" y="41148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591" y="4305727"/>
            <a:ext cx="276515" cy="27651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23376" y="48280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 &amp; rute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723376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&amp; Gojek memilih jalur tercepat.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SEDANG RAMAI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Generatif: Mesin yang Mencipta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AI yang hanya menggolongkan,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generatif membuat konten baru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tulisan, gambar, suara, bahkan kode program — berdasarkan pola dari miliaran contoh.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566928" cy="566928"/>
          </a:xfrm>
          <a:prstGeom prst="ellipse">
            <a:avLst/>
          </a:prstGeom>
          <a:solidFill>
            <a:srgbClr val="EDEB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69" y="3319089"/>
            <a:ext cx="238110" cy="2381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 &amp; percakapan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34472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4069080"/>
            <a:ext cx="566928" cy="566928"/>
          </a:xfrm>
          <a:prstGeom prst="ellipse">
            <a:avLst/>
          </a:prstGeom>
          <a:solidFill>
            <a:srgbClr val="EDEB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69" y="423348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4050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 &amp; desain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25880" y="4361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DALL·E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" y="4983480"/>
            <a:ext cx="566928" cy="566928"/>
          </a:xfrm>
          <a:prstGeom prst="ellipse">
            <a:avLst/>
          </a:prstGeom>
          <a:solidFill>
            <a:srgbClr val="EDEB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69" y="5147889"/>
            <a:ext cx="238110" cy="238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965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Suara &amp; musik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5276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ElevenLabs, Suno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83680" y="1691640"/>
            <a:ext cx="5029200" cy="4434840"/>
          </a:xfrm>
          <a:prstGeom prst="roundRect">
            <a:avLst>
              <a:gd name="adj" fmla="val 2062"/>
            </a:avLst>
          </a:prstGeom>
          <a:solidFill>
            <a:srgbClr val="1215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574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Penting dipahami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949440" y="30632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generatif tidak “mengerti” seperti manusia. Ia menyusun jawaban yang paling mungkin secara statistik — bukan yang dijamin benar.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949440" y="5074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itu hasilnya harus selalu diperiksa, bukan ditelan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SISI TERANG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Manfaat Nyata AI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40680" cy="16916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3172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517" y="2538557"/>
            <a:ext cx="299557" cy="299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Kesehatan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2880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dokter membaca hasil rontgen &amp; mendeteksi penyakit lebih dini.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440680" cy="16916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33172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17" y="2538557"/>
            <a:ext cx="299557" cy="2995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Pendidikan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54380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digital yang menyesuaikan materi dengan kecepatan tiap siswa.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5440680" cy="16916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297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17" y="4504517"/>
            <a:ext cx="299557" cy="29955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Efisiensi kerja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828800" y="45720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Mengotomasi tugas berulang sehingga manusia fokus pada hal kreatif.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63640" y="3794760"/>
            <a:ext cx="5440680" cy="16916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0" y="4297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17" y="4504517"/>
            <a:ext cx="299557" cy="29955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438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Keamanan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543800" y="45720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penipuan transaksi &amp; ancaman siber secara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SISI GELAP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Risiko &amp; Keterbatasan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40680" cy="1691640"/>
          </a:xfrm>
          <a:prstGeom prst="rect">
            <a:avLst/>
          </a:prstGeom>
          <a:solidFill>
            <a:srgbClr val="FDF6EC"/>
          </a:solidFill>
          <a:ln w="12700">
            <a:solidFill>
              <a:srgbClr val="F1DF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82296" cy="169164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33172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517" y="2538557"/>
            <a:ext cx="299557" cy="29955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data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2880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data latih timpang, keputusan AI ikut diskriminatif.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440680" cy="1691640"/>
          </a:xfrm>
          <a:prstGeom prst="rect">
            <a:avLst/>
          </a:prstGeom>
          <a:solidFill>
            <a:srgbClr val="FDF6EC"/>
          </a:solidFill>
          <a:ln w="12700">
            <a:solidFill>
              <a:srgbClr val="F1DF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828800"/>
            <a:ext cx="82296" cy="169164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33172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17" y="2538557"/>
            <a:ext cx="299557" cy="29955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Halusinasi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54380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bisa menjawab dengan percaya diri padahal salah total.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3794760"/>
            <a:ext cx="5440680" cy="1691640"/>
          </a:xfrm>
          <a:prstGeom prst="rect">
            <a:avLst/>
          </a:prstGeom>
          <a:solidFill>
            <a:srgbClr val="FDF6EC"/>
          </a:solidFill>
          <a:ln w="12700">
            <a:solidFill>
              <a:srgbClr val="F1DFC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794760"/>
            <a:ext cx="82296" cy="169164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" y="4297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17" y="4504517"/>
            <a:ext cx="299557" cy="29955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Privasi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1828800" y="45720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data pribadi besar-besaran berisiko disalahgunakan.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63640" y="3794760"/>
            <a:ext cx="5440680" cy="1691640"/>
          </a:xfrm>
          <a:prstGeom prst="rect">
            <a:avLst/>
          </a:prstGeom>
          <a:solidFill>
            <a:srgbClr val="FDF6EC"/>
          </a:solidFill>
          <a:ln w="12700">
            <a:solidFill>
              <a:srgbClr val="F1DFC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63640" y="3794760"/>
            <a:ext cx="82296" cy="1691640"/>
          </a:xfrm>
          <a:prstGeom prst="rect">
            <a:avLst/>
          </a:prstGeom>
          <a:solidFill>
            <a:srgbClr val="F5B14C"/>
          </a:solidFill>
          <a:ln/>
        </p:spPr>
      </p:sp>
      <p:sp>
        <p:nvSpPr>
          <p:cNvPr id="26" name="Shape 21"/>
          <p:cNvSpPr/>
          <p:nvPr/>
        </p:nvSpPr>
        <p:spPr>
          <a:xfrm>
            <a:off x="6583680" y="4297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17" y="4504517"/>
            <a:ext cx="299557" cy="29955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438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Ketergantungan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543800" y="45720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mengandalkan AI dapat menumpulkan kemampuan berpikir.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SIKAP YANG TEPAT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Menggunakan AI Secara Bijak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12344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DFFB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044" y="2275484"/>
            <a:ext cx="249631" cy="2496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alat, bukan pengganti otak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91640" y="2404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untuk mempercepat, bukan menggantikan proses berpikir Anda sendiri.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11064240" cy="12344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520440"/>
            <a:ext cx="594360" cy="594360"/>
          </a:xfrm>
          <a:prstGeom prst="ellipse">
            <a:avLst/>
          </a:prstGeom>
          <a:solidFill>
            <a:srgbClr val="DFFB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44" y="3692804"/>
            <a:ext cx="249631" cy="2496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setiap output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691640" y="38221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ulang fakta, angka, dan sumber sebelum dipercaya atau dikutip.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617720"/>
            <a:ext cx="11064240" cy="1234440"/>
          </a:xfrm>
          <a:prstGeom prst="rect">
            <a:avLst/>
          </a:prstGeom>
          <a:solidFill>
            <a:srgbClr val="F4F4FB"/>
          </a:solidFill>
          <a:ln w="12700">
            <a:solidFill>
              <a:srgbClr val="E3E3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937760"/>
            <a:ext cx="594360" cy="594360"/>
          </a:xfrm>
          <a:prstGeom prst="ellipse">
            <a:avLst/>
          </a:prstGeom>
          <a:solidFill>
            <a:srgbClr val="DFFB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44" y="5110124"/>
            <a:ext cx="249631" cy="24963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Jujur &amp; transparan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691640" y="5239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Akui penggunaan AI dalam karya akademik; hindari plagiarisme terselubung.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PRAKTIS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315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Mulai Belajar AI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31720"/>
            <a:ext cx="713232" cy="713232"/>
          </a:xfrm>
          <a:prstGeom prst="ellipse">
            <a:avLst/>
          </a:prstGeom>
          <a:solidFill>
            <a:srgbClr val="F4F4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517" y="2538557"/>
            <a:ext cx="299557" cy="299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Kuasai dasar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2880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Logika, statistika dasar, dan satu bahasa pemrograman (Python paling ramah pemula).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03520" y="19568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331720"/>
            <a:ext cx="713232" cy="713232"/>
          </a:xfrm>
          <a:prstGeom prst="ellipse">
            <a:avLst/>
          </a:prstGeom>
          <a:solidFill>
            <a:srgbClr val="F4F4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17" y="2538557"/>
            <a:ext cx="299557" cy="29955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Ikuti kursus terstruktur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543800" y="260604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gratis/murah seperti Dicoding, Coursera, atau Kaggle Learn.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1018520" y="19568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548640" y="379476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297680"/>
            <a:ext cx="713232" cy="713232"/>
          </a:xfrm>
          <a:prstGeom prst="ellipse">
            <a:avLst/>
          </a:prstGeom>
          <a:solidFill>
            <a:srgbClr val="F4F4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17" y="4504517"/>
            <a:ext cx="299557" cy="29955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Praktik lewat proyek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1828800" y="45720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sesuatu yang nyata — prediksi sederhana atau chatbot — sambil belajar.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303520" y="3922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6263640" y="3794760"/>
            <a:ext cx="544068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3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83680" y="4297680"/>
            <a:ext cx="713232" cy="713232"/>
          </a:xfrm>
          <a:prstGeom prst="ellipse">
            <a:avLst/>
          </a:prstGeom>
          <a:solidFill>
            <a:srgbClr val="F4F4F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17" y="4504517"/>
            <a:ext cx="299557" cy="29955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Gabung komunitas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7543800" y="45720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bareng mempercepat pemahaman dan membuka peluang kolaborasi.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1018520" y="3922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E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554480"/>
            <a:ext cx="4572000" cy="4572000"/>
          </a:xfrm>
          <a:prstGeom prst="ellipse">
            <a:avLst/>
          </a:prstGeom>
          <a:solidFill>
            <a:srgbClr val="1C214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291840" cy="3291840"/>
          </a:xfrm>
          <a:prstGeom prst="ellipse">
            <a:avLst/>
          </a:prstGeom>
          <a:solidFill>
            <a:srgbClr val="7C6FF0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" y="1015898"/>
            <a:ext cx="345643" cy="3456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Yang Perlu Diingat</a:t>
            </a:r>
            <a:endParaRPr lang="en-US" sz="4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272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108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adalah mesin yang belajar pola dari data — bukan robot berkesadaran.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77056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8587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sudah ada di sekitar kita: rekomendasi, navigasi, hingga buka kunci wajah.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26864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460857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manfaat besar, tetapi juga risiko: bias, halusinasi, dan privasi.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76672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535838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6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sebagai alat bantu berpikir, selalu verifikasi, dan tetap kritis.</a:t>
            </a:r>
            <a:endParaRPr lang="en-US" sz="1650" dirty="0"/>
          </a:p>
        </p:txBody>
      </p:sp>
      <p:sp>
        <p:nvSpPr>
          <p:cNvPr id="16" name="Shape 9"/>
          <p:cNvSpPr/>
          <p:nvPr/>
        </p:nvSpPr>
        <p:spPr>
          <a:xfrm>
            <a:off x="868680" y="6355080"/>
            <a:ext cx="10424160" cy="0"/>
          </a:xfrm>
          <a:prstGeom prst="line">
            <a:avLst/>
          </a:prstGeom>
          <a:noFill/>
          <a:ln w="12700">
            <a:solidFill>
              <a:srgbClr val="1C214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6400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—  Mari diskusikan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Mengenal Kecerdasan Buatan</dc:title>
  <dc:subject>PptxGenJS Presentation</dc:subject>
  <dc:creator>Dervio Rahmatdianto</dc:creator>
  <cp:lastModifiedBy>Dervio Rahmatdianto</cp:lastModifiedBy>
  <cp:revision>1</cp:revision>
  <dcterms:created xsi:type="dcterms:W3CDTF">2026-06-04T11:06:32Z</dcterms:created>
  <dcterms:modified xsi:type="dcterms:W3CDTF">2026-06-04T11:06:32Z</dcterms:modified>
</cp:coreProperties>
</file>